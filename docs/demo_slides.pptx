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D6FA5"/>
                </a:solidFill>
                <a:latin typeface="Microsoft JhengHei"/>
              </a:rPr>
              <a:t>ACADEMIA SINICA · NTNU ⁴⁰Ar/³⁹Ar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371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1A2733"/>
                </a:solidFill>
                <a:latin typeface="Microsoft JhengHei"/>
              </a:rPr>
              <a:t>pyADR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5A6B7A"/>
                </a:solidFill>
                <a:latin typeface="Microsoft JhengHei"/>
              </a:rPr>
              <a:t>DiagramPlot &amp; Argon Pipeline 功能介紹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154680"/>
            <a:ext cx="1463040" cy="54864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1A2733"/>
                </a:solidFill>
                <a:latin typeface="Microsoft JhengHei"/>
              </a:rPr>
              <a:t>把 ⁴⁰Ar/³⁹Ar data reduction 的 isochron 數學對齊現代文獻，</a:t>
            </a:r>
          </a:p>
          <a:p>
            <a:pPr algn="l">
              <a:lnSpc>
                <a:spcPct val="135000"/>
              </a:lnSpc>
            </a:pPr>
            <a:r>
              <a:rPr sz="2100" b="0">
                <a:solidFill>
                  <a:srgbClr val="1A2733"/>
                </a:solidFill>
                <a:latin typeface="Microsoft JhengHei"/>
              </a:rPr>
              <a:t>並做成可檢視、可調參的自動化流程與互動式判讀工具。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231136" cy="384048"/>
          </a:xfrm>
          <a:prstGeom prst="roundRect">
            <a:avLst/>
          </a:prstGeom>
          <a:solidFill>
            <a:srgbClr val="E6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22311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D6FA5"/>
                </a:solidFill>
                <a:latin typeface="Microsoft JhengHei"/>
              </a:rPr>
              <a:t>DiagramPlot 數學修正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4617720"/>
            <a:ext cx="1737360" cy="384048"/>
          </a:xfrm>
          <a:prstGeom prst="roundRect">
            <a:avLst/>
          </a:prstGeom>
          <a:solidFill>
            <a:srgbClr val="E6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461772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D6FA5"/>
                </a:solidFill>
                <a:latin typeface="Microsoft JhengHei"/>
              </a:rPr>
              <a:t>互動式 isochron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617720"/>
            <a:ext cx="2478024" cy="384048"/>
          </a:xfrm>
          <a:prstGeom prst="roundRect">
            <a:avLst/>
          </a:prstGeom>
          <a:solidFill>
            <a:srgbClr val="E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4617720"/>
            <a:ext cx="24780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8A72"/>
                </a:solidFill>
                <a:latin typeface="Microsoft JhengHei"/>
              </a:rPr>
              <a:t>Argon Pipeline 自動化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63256" y="4617720"/>
            <a:ext cx="996696" cy="384048"/>
          </a:xfrm>
          <a:prstGeom prst="roundRect">
            <a:avLst/>
          </a:prstGeom>
          <a:solidFill>
            <a:srgbClr val="E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63256" y="4617720"/>
            <a:ext cx="9966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8A72"/>
                </a:solidFill>
                <a:latin typeface="Microsoft JhengHei"/>
              </a:rPr>
              <a:t>內建判讀輔助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A6B7A"/>
                </a:solidFill>
                <a:latin typeface="Microsoft JhengHei"/>
              </a:rPr>
              <a:t>報告人：An-Jun (Andrew) Liu  ·  pyADR v3.8.88  ·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pyADR — Ar/Ar geochronology data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我做了 </a:t>
            </a:r>
            <a:r>
              <a:rPr sz="3000" b="1">
                <a:solidFill>
                  <a:srgbClr val="1D6FA5"/>
                </a:solidFill>
                <a:latin typeface="Microsoft JhengHei"/>
              </a:rPr>
              <a:t>兩件事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40680" cy="3108960"/>
          </a:xfrm>
          <a:prstGeom prst="roundRect">
            <a:avLst/>
          </a:prstGeom>
          <a:solidFill>
            <a:srgbClr val="F5F6F4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D6FA5"/>
                </a:solidFill>
                <a:latin typeface="Microsoft JhengHei"/>
              </a:rPr>
              <a:t>① DiagramPlot — 把數學做對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550" b="0">
                <a:solidFill>
                  <a:srgbClr val="1A2733"/>
                </a:solidFill>
                <a:latin typeface="Microsoft JhengHei"/>
              </a:rPr>
              <a:t>修正沿用多年、</a:t>
            </a:r>
            <a:r>
              <a:rPr sz="1550" b="1">
                <a:solidFill>
                  <a:srgbClr val="1A2733"/>
                </a:solidFill>
                <a:latin typeface="Microsoft JhengHei"/>
              </a:rPr>
              <a:t>影響每一份歷史 Int age 與 WMA</a:t>
            </a:r>
            <a:r>
              <a:rPr sz="1550" b="0">
                <a:solidFill>
                  <a:srgbClr val="1A2733"/>
                </a:solidFill>
                <a:latin typeface="Microsoft JhengHei"/>
              </a:rPr>
              <a:t> 的 isochron 公式 bug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550" b="0">
                <a:solidFill>
                  <a:srgbClr val="1A2733"/>
                </a:solidFill>
                <a:latin typeface="Microsoft JhengHei"/>
              </a:rPr>
              <a:t>全部對齊 community standard：Vermeesch 2018/2024、Schaen 2021、IsoplotR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550" b="0">
                <a:solidFill>
                  <a:srgbClr val="1A2733"/>
                </a:solidFill>
                <a:latin typeface="Microsoft JhengHei"/>
              </a:rPr>
              <a:t>再把出圖升級成</a:t>
            </a:r>
            <a:r>
              <a:rPr sz="1550" b="1">
                <a:solidFill>
                  <a:srgbClr val="1A2733"/>
                </a:solidFill>
                <a:latin typeface="Microsoft JhengHei"/>
              </a:rPr>
              <a:t>互動判讀工具</a:t>
            </a:r>
            <a:r>
              <a:rPr sz="1550" b="0">
                <a:solidFill>
                  <a:srgbClr val="1A2733"/>
                </a:solidFill>
                <a:latin typeface="Microsoft JhengHei"/>
              </a:rPr>
              <a:t>（切方法、選 group、查公式）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440680" cy="3108960"/>
          </a:xfrm>
          <a:prstGeom prst="roundRect">
            <a:avLst/>
          </a:prstGeom>
          <a:solidFill>
            <a:srgbClr val="EEF6F2"/>
          </a:solidFill>
          <a:ln w="12700">
            <a:solidFill>
              <a:srgbClr val="CFE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8A72"/>
                </a:solidFill>
                <a:latin typeface="Microsoft JhengHei"/>
              </a:rPr>
              <a:t>② Argon Pipeline — 把流程自動化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550" b="0">
                <a:solidFill>
                  <a:srgbClr val="1A2733"/>
                </a:solidFill>
                <a:latin typeface="Microsoft JhengHei"/>
              </a:rPr>
              <a:t>從 .dat 一路到年代，</a:t>
            </a:r>
            <a:r>
              <a:rPr sz="1550" b="1">
                <a:solidFill>
                  <a:srgbClr val="1A2733"/>
                </a:solidFill>
                <a:latin typeface="Microsoft JhengHei"/>
              </a:rPr>
              <a:t>三頁式流程</a:t>
            </a:r>
            <a:r>
              <a:rPr sz="1550" b="0">
                <a:solidFill>
                  <a:srgbClr val="1A2733"/>
                </a:solidFill>
                <a:latin typeface="Microsoft JhengHei"/>
              </a:rPr>
              <a:t>全自動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550" b="0">
                <a:solidFill>
                  <a:srgbClr val="1A2733"/>
                </a:solidFill>
                <a:latin typeface="Microsoft JhengHei"/>
              </a:rPr>
              <a:t>T₀ / MassRatio / AgeCalc 每一步</a:t>
            </a:r>
            <a:r>
              <a:rPr sz="1550" b="1">
                <a:solidFill>
                  <a:srgbClr val="1A2733"/>
                </a:solidFill>
                <a:latin typeface="Microsoft JhengHei"/>
              </a:rPr>
              <a:t>都看得到、改得動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550" b="0">
                <a:solidFill>
                  <a:srgbClr val="1A2733"/>
                </a:solidFill>
                <a:latin typeface="Microsoft JhengHei"/>
              </a:rPr>
              <a:t>內建 z-score、σ budget、MSWD 顏色等</a:t>
            </a:r>
            <a:r>
              <a:rPr sz="1550" b="1">
                <a:solidFill>
                  <a:srgbClr val="1A2733"/>
                </a:solidFill>
                <a:latin typeface="Microsoft JhengHei"/>
              </a:rPr>
              <a:t>判讀輔助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937760"/>
            <a:ext cx="64008" cy="91440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4937760"/>
            <a:ext cx="11009376" cy="914400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2733"/>
                </a:solidFill>
                <a:latin typeface="Microsoft JhengHei"/>
              </a:rPr>
              <a:t>先講「正確性」（有文獻撐腰的硬實力），再講「自動化與好用」。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DIAGRAMPLOT · 數學核心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修正 </a:t>
            </a:r>
            <a:r>
              <a:rPr sz="3000" b="1">
                <a:solidFill>
                  <a:srgbClr val="1D6FA5"/>
                </a:solidFill>
                <a:latin typeface="Microsoft JhengHei"/>
              </a:rPr>
              <a:t>5 類</a:t>
            </a:r>
            <a:r>
              <a:rPr sz="3000" b="1">
                <a:solidFill>
                  <a:srgbClr val="1A2733"/>
                </a:solidFill>
                <a:latin typeface="Microsoft JhengHei"/>
              </a:rPr>
              <a:t> 公式 bug，每條都有 primary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1991563" cy="384048"/>
          </a:xfrm>
          <a:prstGeom prst="rect">
            <a:avLst/>
          </a:prstGeom>
          <a:solidFill>
            <a:srgbClr val="EEF3F7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18452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6FA5"/>
                </a:solidFill>
                <a:latin typeface="Microsoft JhengHei"/>
              </a:rPr>
              <a:t>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8491" y="1508760"/>
            <a:ext cx="3761841" cy="384048"/>
          </a:xfrm>
          <a:prstGeom prst="rect">
            <a:avLst/>
          </a:prstGeom>
          <a:solidFill>
            <a:srgbClr val="EEF3F7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1643" y="1545336"/>
            <a:ext cx="361553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6FA5"/>
                </a:solidFill>
                <a:latin typeface="Microsoft JhengHei"/>
              </a:rPr>
              <a:t>舊版（錯）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0332" y="1508760"/>
            <a:ext cx="3319272" cy="384048"/>
          </a:xfrm>
          <a:prstGeom prst="rect">
            <a:avLst/>
          </a:prstGeom>
          <a:solidFill>
            <a:srgbClr val="EEF3F7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3484" y="1545336"/>
            <a:ext cx="31729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6FA5"/>
                </a:solidFill>
                <a:latin typeface="Microsoft JhengHei"/>
              </a:rPr>
              <a:t>修正後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39604" y="1508760"/>
            <a:ext cx="1991563" cy="384048"/>
          </a:xfrm>
          <a:prstGeom prst="rect">
            <a:avLst/>
          </a:prstGeom>
          <a:solidFill>
            <a:srgbClr val="EEF3F7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2756" y="1545336"/>
            <a:ext cx="18452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6FA5"/>
                </a:solidFill>
                <a:latin typeface="Microsoft JhengHei"/>
              </a:rPr>
              <a:t>文獻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892807"/>
            <a:ext cx="199156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29384"/>
            <a:ext cx="184525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733"/>
                </a:solidFill>
                <a:latin typeface="Microsoft JhengHei"/>
              </a:rPr>
              <a:t>Inverse isochron 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58491" y="1892807"/>
            <a:ext cx="376184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1643" y="1929384"/>
            <a:ext cx="361553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392A"/>
                </a:solidFill>
                <a:latin typeface="Microsoft JhengHei"/>
              </a:rPr>
              <a:t>F = 1/slope；LS 用 trapped 36/40 當 F（物理錯）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0332" y="1892807"/>
            <a:ext cx="33192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3484" y="1929384"/>
            <a:ext cx="317296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38A72"/>
                </a:solidFill>
                <a:latin typeface="Microsoft JhengHei"/>
              </a:rPr>
              <a:t>F = −slope / intercept（York convention）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39604" y="1892807"/>
            <a:ext cx="199156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2756" y="1929384"/>
            <a:ext cx="184525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733"/>
                </a:solidFill>
                <a:latin typeface="Microsoft JhengHei"/>
              </a:rPr>
              <a:t>Vermeesch 2024 / 2018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459736"/>
            <a:ext cx="199156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496312"/>
            <a:ext cx="184525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733"/>
                </a:solidFill>
                <a:latin typeface="Microsoft JhengHei"/>
              </a:rPr>
              <a:t>WMA 加權平均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58491" y="2459736"/>
            <a:ext cx="376184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1643" y="2496312"/>
            <a:ext cx="361553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392A"/>
                </a:solidFill>
                <a:latin typeface="Microsoft JhengHei"/>
              </a:rPr>
              <a:t>loop 內 1/σ² 互消 → 退化成 ΣTᵢ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0332" y="2459736"/>
            <a:ext cx="33192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3484" y="2496312"/>
            <a:ext cx="317296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38A72"/>
                </a:solidFill>
                <a:latin typeface="Microsoft JhengHei"/>
              </a:rPr>
              <a:t>Σ(T/σ²) / Σ(1/σ²)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39604" y="2459736"/>
            <a:ext cx="199156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2756" y="2496312"/>
            <a:ext cx="184525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733"/>
                </a:solidFill>
                <a:latin typeface="Microsoft JhengHei"/>
              </a:rPr>
              <a:t>Schaen 2021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026664"/>
            <a:ext cx="199156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063240"/>
            <a:ext cx="184525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733"/>
                </a:solidFill>
                <a:latin typeface="Microsoft JhengHei"/>
              </a:rPr>
              <a:t>MSWD 參考點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58491" y="3026664"/>
            <a:ext cx="376184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1643" y="3063240"/>
            <a:ext cx="361553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392A"/>
                </a:solidFill>
                <a:latin typeface="Microsoft JhengHei"/>
              </a:rPr>
              <a:t>算術平均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0332" y="3026664"/>
            <a:ext cx="33192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3484" y="3063240"/>
            <a:ext cx="317296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38A72"/>
                </a:solidFill>
                <a:latin typeface="Microsoft JhengHei"/>
              </a:rPr>
              <a:t>改用 WMA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39604" y="3026664"/>
            <a:ext cx="199156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2756" y="3063240"/>
            <a:ext cx="184525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733"/>
                </a:solidFill>
                <a:latin typeface="Microsoft JhengHei"/>
              </a:rPr>
              <a:t>Schaen 2021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593592"/>
            <a:ext cx="199156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630168"/>
            <a:ext cx="184525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733"/>
                </a:solidFill>
                <a:latin typeface="Microsoft JhengHei"/>
              </a:rPr>
              <a:t>σ_J 誤差傳播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58491" y="3593592"/>
            <a:ext cx="376184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31643" y="3630168"/>
            <a:ext cx="361553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392A"/>
                </a:solidFill>
                <a:latin typeface="Microsoft JhengHei"/>
              </a:rPr>
              <a:t>括號錯位 → σ_J 高估數個數量級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0332" y="3593592"/>
            <a:ext cx="33192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3484" y="3630168"/>
            <a:ext cx="317296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38A72"/>
                </a:solidFill>
                <a:latin typeface="Microsoft JhengHei"/>
              </a:rPr>
              <a:t>(e^λt−1)/F_r² 正確偏導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39604" y="3593592"/>
            <a:ext cx="199156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12756" y="3630168"/>
            <a:ext cx="184525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733"/>
                </a:solidFill>
                <a:latin typeface="Microsoft JhengHei"/>
              </a:rPr>
              <a:t>Bevington &amp; Robinson 1992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160520"/>
            <a:ext cx="199156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197096"/>
            <a:ext cx="184525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733"/>
                </a:solidFill>
                <a:latin typeface="Microsoft JhengHei"/>
              </a:rPr>
              <a:t>σ₃₆ / σ₃₉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58491" y="4160520"/>
            <a:ext cx="376184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31643" y="4197096"/>
            <a:ext cx="361553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392A"/>
                </a:solidFill>
                <a:latin typeface="Microsoft JhengHei"/>
              </a:rPr>
              <a:t>corrections σ 被雙重計算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0332" y="4160520"/>
            <a:ext cx="33192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3484" y="4197096"/>
            <a:ext cx="317296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38A72"/>
                </a:solidFill>
                <a:latin typeface="Microsoft JhengHei"/>
              </a:rPr>
              <a:t>從 raw component 扣回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39604" y="4160520"/>
            <a:ext cx="199156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12756" y="4197096"/>
            <a:ext cx="184525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2733"/>
                </a:solidFill>
                <a:latin typeface="Microsoft JhengHei"/>
              </a:rPr>
              <a:t>quadrature 一致化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892040"/>
            <a:ext cx="64008" cy="64008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" y="4892040"/>
            <a:ext cx="11009376" cy="640080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4892040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2733"/>
                </a:solidFill>
                <a:latin typeface="Microsoft JhengHei"/>
              </a:rPr>
              <a:t>這幾條不是我自己想的，是把程式對齊 IsoplotR / Schaen 的 community convention。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DiagramPlot · 數學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DIAGRAMPLOT · 影響範圍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這些 bug </a:t>
            </a:r>
            <a:r>
              <a:rPr sz="3000" b="1">
                <a:solidFill>
                  <a:srgbClr val="C2410C"/>
                </a:solidFill>
                <a:latin typeface="Microsoft JhengHei"/>
              </a:rPr>
              <a:t>影響每一份過去的結果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64008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C2410C"/>
                </a:solidFill>
                <a:latin typeface="Microsoft JhengHei"/>
              </a:rPr>
              <a:t>■ </a:t>
            </a:r>
            <a:r>
              <a:rPr sz="1600" b="1">
                <a:solidFill>
                  <a:srgbClr val="1A2733"/>
                </a:solidFill>
                <a:latin typeface="Microsoft JhengHei"/>
              </a:rPr>
              <a:t>SH 樣品 Int age</a:t>
            </a:r>
            <a:r>
              <a:rPr sz="1600" b="0">
                <a:solidFill>
                  <a:srgbClr val="1A2733"/>
                </a:solidFill>
                <a:latin typeface="Microsoft JhengHei"/>
              </a:rPr>
              <a:t>：舊版 F 用 1/slope → age 系統性偏低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C2410C"/>
                </a:solidFill>
                <a:latin typeface="Microsoft JhengHei"/>
              </a:rPr>
              <a:t>■ </a:t>
            </a:r>
            <a:r>
              <a:rPr sz="1600" b="1">
                <a:solidFill>
                  <a:srgbClr val="1A2733"/>
                </a:solidFill>
                <a:latin typeface="Microsoft JhengHei"/>
              </a:rPr>
              <a:t>LS 樣品 Int age</a:t>
            </a:r>
            <a:r>
              <a:rPr sz="1600" b="0">
                <a:solidFill>
                  <a:srgbClr val="1A2733"/>
                </a:solidFill>
                <a:latin typeface="Microsoft JhengHei"/>
              </a:rPr>
              <a:t>：舊版 F 用 trapped 36/40 → </a:t>
            </a:r>
            <a:r>
              <a:rPr sz="1600" b="1">
                <a:solidFill>
                  <a:srgbClr val="1A2733"/>
                </a:solidFill>
                <a:latin typeface="Microsoft JhengHei"/>
              </a:rPr>
              <a:t>完全錯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C2410C"/>
                </a:solidFill>
                <a:latin typeface="Microsoft JhengHei"/>
              </a:rPr>
              <a:t>■ </a:t>
            </a:r>
            <a:r>
              <a:rPr sz="1600" b="1">
                <a:solidFill>
                  <a:srgbClr val="1A2733"/>
                </a:solidFill>
                <a:latin typeface="Microsoft JhengHei"/>
              </a:rPr>
              <a:t>所有 WMA</a:t>
            </a:r>
            <a:r>
              <a:rPr sz="1600" b="0">
                <a:solidFill>
                  <a:srgbClr val="1A2733"/>
                </a:solidFill>
                <a:latin typeface="Microsoft JhengHei"/>
              </a:rPr>
              <a:t>：舊版等同 ΣTᵢ，不是加權平均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C2410C"/>
                </a:solidFill>
                <a:latin typeface="Microsoft JhengHei"/>
              </a:rPr>
              <a:t>■ </a:t>
            </a:r>
            <a:r>
              <a:rPr sz="1600" b="1">
                <a:solidFill>
                  <a:srgbClr val="1A2733"/>
                </a:solidFill>
                <a:latin typeface="Microsoft JhengHei"/>
              </a:rPr>
              <a:t>所有 MSWD</a:t>
            </a:r>
            <a:r>
              <a:rPr sz="1600" b="0">
                <a:solidFill>
                  <a:srgbClr val="1A2733"/>
                </a:solidFill>
                <a:latin typeface="Microsoft JhengHei"/>
              </a:rPr>
              <a:t>：舊版用算術平均當參考點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C2410C"/>
                </a:solidFill>
                <a:latin typeface="Microsoft JhengHei"/>
              </a:rPr>
              <a:t>■ </a:t>
            </a:r>
            <a:r>
              <a:rPr sz="1600" b="1">
                <a:solidFill>
                  <a:srgbClr val="1A2733"/>
                </a:solidFill>
                <a:latin typeface="Microsoft JhengHei"/>
              </a:rPr>
              <a:t>所有 σ_age</a:t>
            </a:r>
            <a:r>
              <a:rPr sz="1600" b="0">
                <a:solidFill>
                  <a:srgbClr val="1A2733"/>
                </a:solidFill>
                <a:latin typeface="Microsoft JhengHei"/>
              </a:rPr>
              <a:t>：舊版 σ_J 高估 → σ_age 整條系統性高估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262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A6B7A"/>
                </a:solidFill>
                <a:latin typeface="Microsoft JhengHei"/>
              </a:rPr>
              <a:t>※ age 中心值修正後不變的只有 σ_J 那條（只縮小誤差）。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00200"/>
            <a:ext cx="4416552" cy="4206240"/>
          </a:xfrm>
          <a:prstGeom prst="roundRect">
            <a:avLst/>
          </a:prstGeom>
          <a:solidFill>
            <a:srgbClr val="FBF3EE"/>
          </a:solidFill>
          <a:ln w="12700">
            <a:solidFill>
              <a:srgbClr val="F0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C2410C"/>
                </a:solidFill>
                <a:latin typeface="Microsoft JhengHei"/>
              </a:rPr>
              <a:t>⚠ 給老師的提醒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331720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733"/>
                </a:solidFill>
                <a:latin typeface="Microsoft JhengHei"/>
              </a:rPr>
              <a:t>已投稿 / 已發表結果若用到舊的 Int age 或 WMA，建議評估是否需要 erratum。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5204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38A72"/>
                </a:solidFill>
                <a:latin typeface="Microsoft JhengHei"/>
              </a:rPr>
              <a:t>✓ 怎麼證明修對了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02336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A2733"/>
                </a:solidFill>
                <a:latin typeface="Microsoft JhengHei"/>
              </a:rPr>
              <a:t>SYL31 LS（Sylhet Trap 玄武岩）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733"/>
                </a:solidFill>
                <a:latin typeface="Microsoft JhengHei"/>
              </a:rPr>
              <a:t>論文值 </a:t>
            </a:r>
            <a:r>
              <a:rPr sz="2000" b="1">
                <a:solidFill>
                  <a:srgbClr val="138A72"/>
                </a:solidFill>
                <a:latin typeface="Microsoft JhengHei"/>
              </a:rPr>
              <a:t>115.4 ± 3.9 Ma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733"/>
                </a:solidFill>
                <a:latin typeface="Microsoft JhengHei"/>
              </a:rPr>
              <a:t>修正後 Date / WMA ≈ 115 Ma 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DiagramPlot · 影響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DIAGRAMPLOT · 互動功能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從「靜態出圖」升級成 </a:t>
            </a:r>
            <a:r>
              <a:rPr sz="3000" b="1">
                <a:solidFill>
                  <a:srgbClr val="1D6FA5"/>
                </a:solidFill>
                <a:latin typeface="Microsoft JhengHei"/>
              </a:rPr>
              <a:t>互動判讀工具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8521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1691639"/>
            <a:ext cx="5577840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5394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B7A"/>
                </a:solidFill>
                <a:latin typeface="Consolas"/>
              </a:rPr>
              <a:t>x=0.01182  y=0.00251 | York 2004 | MSWD 1.07 (n=6)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7" y="2194560"/>
            <a:ext cx="10972" cy="2880360"/>
          </a:xfrm>
          <a:prstGeom prst="rect">
            <a:avLst/>
          </a:prstGeom>
          <a:solidFill>
            <a:srgbClr val="9AA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7007" y="5074920"/>
            <a:ext cx="4846320" cy="10972"/>
          </a:xfrm>
          <a:prstGeom prst="rect">
            <a:avLst/>
          </a:prstGeom>
          <a:solidFill>
            <a:srgbClr val="9AA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12064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³⁹Ar/⁴⁰Ar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3832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B7A"/>
                </a:solidFill>
                <a:latin typeface="Microsoft JhengHei"/>
              </a:rPr>
              <a:t>³⁶Ar/⁴⁰Ar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07007" y="2423160"/>
            <a:ext cx="4663441" cy="2560320"/>
          </a:xfrm>
          <a:prstGeom prst="bentConnector3">
            <a:avLst/>
          </a:prstGeom>
          <a:ln w="27940">
            <a:solidFill>
              <a:srgbClr val="1D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7279" y="224027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C0392A"/>
                </a:solidFill>
                <a:latin typeface="Microsoft JhengHe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22677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0392A"/>
                </a:solidFill>
                <a:latin typeface="Microsoft JhengHei"/>
              </a:rPr>
              <a:t>atm ⁴⁰/³⁶ = 1/intercept</a:t>
            </a:r>
          </a:p>
        </p:txBody>
      </p:sp>
      <p:sp>
        <p:nvSpPr>
          <p:cNvPr id="16" name="Oval 15"/>
          <p:cNvSpPr/>
          <p:nvPr/>
        </p:nvSpPr>
        <p:spPr>
          <a:xfrm>
            <a:off x="1918411" y="2994660"/>
            <a:ext cx="128016" cy="128016"/>
          </a:xfrm>
          <a:prstGeom prst="ellipse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96896" y="3340303"/>
            <a:ext cx="128016" cy="128016"/>
          </a:xfrm>
          <a:prstGeom prst="ellipse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78454" y="3628339"/>
            <a:ext cx="128016" cy="128016"/>
          </a:xfrm>
          <a:prstGeom prst="ellipse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50791" y="4031589"/>
            <a:ext cx="128016" cy="128016"/>
          </a:xfrm>
          <a:prstGeom prst="ellipse">
            <a:avLst/>
          </a:prstGeom>
          <a:solidFill>
            <a:srgbClr val="13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29276" y="4377232"/>
            <a:ext cx="128016" cy="128016"/>
          </a:xfrm>
          <a:prstGeom prst="ellipse">
            <a:avLst/>
          </a:prstGeom>
          <a:solidFill>
            <a:srgbClr val="13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07761" y="4722876"/>
            <a:ext cx="128016" cy="128016"/>
          </a:xfrm>
          <a:prstGeom prst="ellipse">
            <a:avLst/>
          </a:prstGeom>
          <a:solidFill>
            <a:srgbClr val="13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7" y="260604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D6FA5"/>
                </a:solidFill>
                <a:latin typeface="Microsoft JhengHei"/>
              </a:rPr>
              <a:t>group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402336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38A72"/>
                </a:solidFill>
                <a:latin typeface="Microsoft JhengHei"/>
              </a:rPr>
              <a:t>group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59612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Inverse isochron：滑鼠座標 + 方法/MSWD 併入 infoLabel；marker 用紅/彩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1691640"/>
            <a:ext cx="49377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500" b="1">
                <a:solidFill>
                  <a:srgbClr val="1A2733"/>
                </a:solidFill>
                <a:latin typeface="Microsoft JhengHei"/>
              </a:rPr>
              <a:t>方法可切換</a:t>
            </a:r>
            <a:r>
              <a:rPr sz="1500" b="0">
                <a:solidFill>
                  <a:srgbClr val="1A2733"/>
                </a:solidFill>
                <a:latin typeface="Microsoft JhengHei"/>
              </a:rPr>
              <a:t>：OLS ↔ York 2004 dropdown，即時 re-render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500" b="1">
                <a:solidFill>
                  <a:srgbClr val="1A2733"/>
                </a:solidFill>
                <a:latin typeface="Microsoft JhengHei"/>
              </a:rPr>
              <a:t>互動選點</a:t>
            </a:r>
            <a:r>
              <a:rPr sz="1500" b="0">
                <a:solidFill>
                  <a:srgbClr val="1A2733"/>
                </a:solidFill>
                <a:latin typeface="Microsoft JhengHei"/>
              </a:rPr>
              <a:t>：圖上直接點 data point 分 group，各自算 isochron（初開就能點）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500" b="1">
                <a:solidFill>
                  <a:srgbClr val="1A2733"/>
                </a:solidFill>
                <a:latin typeface="Microsoft JhengHei"/>
              </a:rPr>
              <a:t>infoLabel</a:t>
            </a:r>
            <a:r>
              <a:rPr sz="1500" b="0">
                <a:solidFill>
                  <a:srgbClr val="1A2733"/>
                </a:solidFill>
                <a:latin typeface="Microsoft JhengHei"/>
              </a:rPr>
              <a:t>：即時顯示滑鼠資料座標 + 回歸 MSWD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500" b="1">
                <a:solidFill>
                  <a:srgbClr val="1A2733"/>
                </a:solidFill>
                <a:latin typeface="Microsoft JhengHei"/>
              </a:rPr>
              <a:t>marker 修正</a:t>
            </a:r>
            <a:r>
              <a:rPr sz="1500" b="0">
                <a:solidFill>
                  <a:srgbClr val="1A2733"/>
                </a:solidFill>
                <a:latin typeface="Microsoft JhengHei"/>
              </a:rPr>
              <a:t>：大氣值紅圓→紅 X、group 交點→彩色 X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500" b="1">
                <a:solidFill>
                  <a:srgbClr val="1A2733"/>
                </a:solidFill>
                <a:latin typeface="Microsoft JhengHei"/>
              </a:rPr>
              <a:t>Int age std</a:t>
            </a:r>
            <a:r>
              <a:rPr sz="1500" b="0">
                <a:solidFill>
                  <a:srgbClr val="1A2733"/>
                </a:solidFill>
                <a:latin typeface="Microsoft JhengHei"/>
              </a:rPr>
              <a:t> 標籤補回（之前被截斷空白）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DiagramPlot · 互動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DIAGRAMPLOT · 控制與輔助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軸全可調，公式</a:t>
            </a:r>
            <a:r>
              <a:rPr sz="3000" b="1">
                <a:solidFill>
                  <a:srgbClr val="1D6FA5"/>
                </a:solidFill>
                <a:latin typeface="Microsoft JhengHei"/>
              </a:rPr>
              <a:t>當場查得到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40680" cy="3291840"/>
          </a:xfrm>
          <a:prstGeom prst="roundRect">
            <a:avLst/>
          </a:prstGeom>
          <a:solidFill>
            <a:srgbClr val="F5F6F4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D6FA5"/>
                </a:solidFill>
                <a:latin typeface="Microsoft JhengHei"/>
              </a:rPr>
              <a:t>Plot Controls 面板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892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500" b="1">
                <a:solidFill>
                  <a:srgbClr val="1A2733"/>
                </a:solidFill>
                <a:latin typeface="Microsoft JhengHei"/>
              </a:rPr>
              <a:t>X/Y 軸範圍 per-panel 獨立</a:t>
            </a:r>
            <a:r>
              <a:rPr sz="1500" b="0">
                <a:solidFill>
                  <a:srgbClr val="1A2733"/>
                </a:solidFill>
                <a:latin typeface="Microsoft JhengHei"/>
              </a:rPr>
              <a:t>（isochron 與三譜尺度差很多）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500" b="1">
                <a:solidFill>
                  <a:srgbClr val="1A2733"/>
                </a:solidFill>
                <a:latin typeface="Microsoft JhengHei"/>
              </a:rPr>
              <a:t>Style</a:t>
            </a:r>
            <a:r>
              <a:rPr sz="1500" b="0">
                <a:solidFill>
                  <a:srgbClr val="1A2733"/>
                </a:solidFill>
                <a:latin typeface="Microsoft JhengHei"/>
              </a:rPr>
              <a:t>：pyADR / Classic PDF 兩種出圖風格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500" b="1">
                <a:solidFill>
                  <a:srgbClr val="1A2733"/>
                </a:solidFill>
                <a:latin typeface="Microsoft JhengHei"/>
              </a:rPr>
              <a:t>Log Y</a:t>
            </a:r>
            <a:r>
              <a:rPr sz="1500" b="0">
                <a:solidFill>
                  <a:srgbClr val="1A2733"/>
                </a:solidFill>
                <a:latin typeface="Microsoft JhengHei"/>
              </a:rPr>
              <a:t>（Ca/K、Cl/K、Degassing）、</a:t>
            </a:r>
            <a:r>
              <a:rPr sz="1500" b="1">
                <a:solidFill>
                  <a:srgbClr val="1A2733"/>
                </a:solidFill>
                <a:latin typeface="Microsoft JhengHei"/>
              </a:rPr>
              <a:t>Group Span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500" b="0">
                <a:solidFill>
                  <a:srgbClr val="1A2733"/>
                </a:solidFill>
                <a:latin typeface="Microsoft JhengHei"/>
              </a:rPr>
              <a:t>legend / group fits / overall fit 開關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440680" cy="3291840"/>
          </a:xfrm>
          <a:prstGeom prst="roundRect">
            <a:avLst/>
          </a:prstGeom>
          <a:solidFill>
            <a:srgbClr val="EEF6F2"/>
          </a:solidFill>
          <a:ln w="12700">
            <a:solidFill>
              <a:srgbClr val="CFE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38A72"/>
                </a:solidFill>
                <a:latin typeface="Microsoft JhengHei"/>
              </a:rPr>
              <a:t>Main / Help 選單 + 內建公式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2733"/>
                </a:solidFill>
                <a:latin typeface="Microsoft JhengHei"/>
              </a:rPr>
              <a:t>menubar：Main（回首頁）· Help → Formulas &amp; 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88920"/>
            <a:ext cx="1417320" cy="329184"/>
          </a:xfrm>
          <a:prstGeom prst="roundRect">
            <a:avLst/>
          </a:prstGeom>
          <a:solidFill>
            <a:srgbClr val="FB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788920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9A7400"/>
                </a:solidFill>
                <a:latin typeface="Microsoft JhengHei"/>
              </a:rPr>
              <a:t>Plateau / WMA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2788920"/>
            <a:ext cx="960120" cy="329184"/>
          </a:xfrm>
          <a:prstGeom prst="roundRect">
            <a:avLst/>
          </a:prstGeom>
          <a:solidFill>
            <a:srgbClr val="FB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5" y="2788920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9A7400"/>
                </a:solidFill>
                <a:latin typeface="Microsoft JhengHei"/>
              </a:rPr>
              <a:t>Isochron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25711" y="2788920"/>
            <a:ext cx="594360" cy="329184"/>
          </a:xfrm>
          <a:prstGeom prst="roundRect">
            <a:avLst/>
          </a:prstGeom>
          <a:solidFill>
            <a:srgbClr val="FB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1" y="2788920"/>
            <a:ext cx="594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9A7400"/>
                </a:solidFill>
                <a:latin typeface="Microsoft JhengHei"/>
              </a:rPr>
              <a:t>MSWD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48088" y="2788920"/>
            <a:ext cx="1234440" cy="329184"/>
          </a:xfrm>
          <a:prstGeom prst="roundRect">
            <a:avLst/>
          </a:prstGeom>
          <a:solidFill>
            <a:srgbClr val="FB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8" y="2788920"/>
            <a:ext cx="1234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9A7400"/>
                </a:solidFill>
                <a:latin typeface="Microsoft JhengHei"/>
              </a:rPr>
              <a:t>Age formula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209544"/>
            <a:ext cx="1417320" cy="329184"/>
          </a:xfrm>
          <a:prstGeom prst="roundRect">
            <a:avLst/>
          </a:prstGeom>
          <a:solidFill>
            <a:srgbClr val="FB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209544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9A7400"/>
                </a:solidFill>
                <a:latin typeface="Microsoft JhengHei"/>
              </a:rPr>
              <a:t>Ar components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3209544"/>
            <a:ext cx="1325880" cy="329184"/>
          </a:xfrm>
          <a:prstGeom prst="roundRect">
            <a:avLst/>
          </a:prstGeom>
          <a:solidFill>
            <a:srgbClr val="FB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7575" y="3209544"/>
            <a:ext cx="1325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9A7400"/>
                </a:solidFill>
                <a:latin typeface="Microsoft JhengHei"/>
              </a:rPr>
              <a:t>3D Plane Fit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3209544"/>
            <a:ext cx="1143000" cy="329184"/>
          </a:xfrm>
          <a:prstGeom prst="roundRect">
            <a:avLst/>
          </a:prstGeom>
          <a:solidFill>
            <a:srgbClr val="FBF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3209544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9A7400"/>
                </a:solidFill>
                <a:latin typeface="Microsoft JhengHei"/>
              </a:rPr>
              <a:t>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58183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2733"/>
                </a:solidFill>
                <a:latin typeface="Microsoft JhengHei"/>
              </a:rPr>
              <a:t>「看圖看到一半想確認公式，當場查得到，引文都列好。」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074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A6B7A"/>
                </a:solidFill>
                <a:latin typeface="Microsoft JhengHei"/>
              </a:rPr>
              <a:t>7 張圖：Age Spectrum · ⁴⁰Ar(r)% · Inverse Isochron · Normal Isochron · Ca/K · Cl/K · Degassing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DiagramPlot · 控制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ARGON PIPELINE · 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三頁式流程：</a:t>
            </a:r>
            <a:r>
              <a:rPr sz="3000" b="1">
                <a:solidFill>
                  <a:srgbClr val="1D6FA5"/>
                </a:solidFill>
                <a:latin typeface="Microsoft JhengHei"/>
              </a:rPr>
              <a:t>.dat → 年代</a:t>
            </a:r>
            <a:r>
              <a:rPr sz="3000" b="1">
                <a:solidFill>
                  <a:srgbClr val="1A2733"/>
                </a:solidFill>
                <a:latin typeface="Microsoft JhengHei"/>
              </a:rPr>
              <a:t>，每步可檢視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1143000" cy="1005840"/>
          </a:xfrm>
          <a:prstGeom prst="roundRect">
            <a:avLst/>
          </a:prstGeom>
          <a:solidFill>
            <a:srgbClr val="DCEAF3"/>
          </a:solidFill>
          <a:ln w="2032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21408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A2733"/>
                </a:solidFill>
                <a:latin typeface="Microsoft JhengHei"/>
              </a:rPr>
              <a:t>  .dat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8716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原始訊號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011680"/>
            <a:ext cx="1828800" cy="1005840"/>
          </a:xfrm>
          <a:prstGeom prst="roundRect">
            <a:avLst/>
          </a:prstGeom>
          <a:solidFill>
            <a:srgbClr val="DCEAF3"/>
          </a:solidFill>
          <a:ln w="2032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12140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A2733"/>
                </a:solidFill>
                <a:latin typeface="Microsoft JhengHei"/>
              </a:rPr>
              <a:t>① Calculate T₀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487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挑 cycle · 定截距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743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8A72"/>
                </a:solidFill>
                <a:latin typeface="Microsoft JhengHei"/>
              </a:rPr>
              <a:t>z-score 著色 · σ 雙軸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011680"/>
            <a:ext cx="1828800" cy="1005840"/>
          </a:xfrm>
          <a:prstGeom prst="roundRect">
            <a:avLst/>
          </a:prstGeom>
          <a:solidFill>
            <a:srgbClr val="DCEAF3"/>
          </a:solidFill>
          <a:ln w="2032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12140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A2733"/>
                </a:solidFill>
                <a:latin typeface="Microsoft JhengHei"/>
              </a:rPr>
              <a:t>② MassRatio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487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質量歧視校正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743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8A72"/>
                </a:solidFill>
                <a:latin typeface="Microsoft JhengHei"/>
              </a:rPr>
              <a:t>對齊 NTNU 格式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2011680"/>
            <a:ext cx="1965960" cy="1005840"/>
          </a:xfrm>
          <a:prstGeom prst="roundRect">
            <a:avLst/>
          </a:prstGeom>
          <a:solidFill>
            <a:srgbClr val="DCEAF3"/>
          </a:solidFill>
          <a:ln w="2032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212140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A2733"/>
                </a:solidFill>
                <a:latin typeface="Microsoft JhengHei"/>
              </a:rPr>
              <a:t>③ AgeCalc + Datum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48716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York isochron · plateau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7432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38A72"/>
                </a:solidFill>
                <a:latin typeface="Microsoft JhengHei"/>
              </a:rPr>
              <a:t>9 個分頁 · 可改 J 重算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011680"/>
            <a:ext cx="1554480" cy="1005840"/>
          </a:xfrm>
          <a:prstGeom prst="roundRect">
            <a:avLst/>
          </a:prstGeom>
          <a:solidFill>
            <a:srgbClr val="E3F2EC"/>
          </a:solidFill>
          <a:ln w="20320">
            <a:solidFill>
              <a:srgbClr val="13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12140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A2733"/>
                </a:solidFill>
                <a:latin typeface="Microsoft JhengHei"/>
              </a:rPr>
              <a:t>年代 ± 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8716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表 · 圖 · datum · export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09928" y="2514600"/>
            <a:ext cx="164591" cy="0"/>
          </a:xfrm>
          <a:prstGeom prst="bentConnector3">
            <a:avLst/>
          </a:prstGeom>
          <a:ln w="27940">
            <a:solidFill>
              <a:srgbClr val="1D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21608" y="2514600"/>
            <a:ext cx="164592" cy="0"/>
          </a:xfrm>
          <a:prstGeom prst="bentConnector3">
            <a:avLst/>
          </a:prstGeom>
          <a:ln w="27940">
            <a:solidFill>
              <a:srgbClr val="1D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33288" y="2514600"/>
            <a:ext cx="164592" cy="0"/>
          </a:xfrm>
          <a:prstGeom prst="bentConnector3">
            <a:avLst/>
          </a:prstGeom>
          <a:ln w="27940">
            <a:solidFill>
              <a:srgbClr val="1D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848" y="2514600"/>
            <a:ext cx="164592" cy="0"/>
          </a:xfrm>
          <a:prstGeom prst="bentConnector3">
            <a:avLst/>
          </a:prstGeom>
          <a:ln w="27940">
            <a:solidFill>
              <a:srgbClr val="1D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874519" y="3383280"/>
            <a:ext cx="6400800" cy="502920"/>
          </a:xfrm>
          <a:prstGeom prst="roundRect">
            <a:avLst/>
          </a:prstGeom>
          <a:solidFill>
            <a:srgbClr val="F5F6F4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3383280"/>
            <a:ext cx="6309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6B7A"/>
                </a:solidFill>
                <a:latin typeface="Microsoft JhengHei"/>
              </a:rPr>
              <a:t>左側固定按鈕列 | </a:t>
            </a:r>
            <a:r>
              <a:rPr sz="1200" b="1">
                <a:solidFill>
                  <a:srgbClr val="1D6FA5"/>
                </a:solidFill>
                <a:latin typeface="Microsoft JhengHei"/>
              </a:rPr>
              <a:t>Parameter</a:t>
            </a:r>
            <a:r>
              <a:rPr sz="1200" b="0">
                <a:solidFill>
                  <a:srgbClr val="5A6B7A"/>
                </a:solidFill>
                <a:latin typeface="Microsoft JhengHei"/>
              </a:rPr>
              <a:t> 鈕可隨時跳去調 J 等常數再切回，session 不丟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297680"/>
            <a:ext cx="64008" cy="91440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" y="4297680"/>
            <a:ext cx="11009376" cy="914400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29768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A2733"/>
                </a:solidFill>
                <a:latin typeface="Microsoft JhengHei"/>
              </a:rPr>
              <a:t>不是黑盒子：T₀ 挑哪些 cycle、用哪條 σ、plateau 選哪幾階，全部攝在 UI 上可檢視、可手動覆蓋。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Argon Pipeline · 流程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ARGON PIPELINE · ① CALCULATE T₀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智慧挑訊號，</a:t>
            </a:r>
            <a:r>
              <a:rPr sz="3000" b="1">
                <a:solidFill>
                  <a:srgbClr val="1D6FA5"/>
                </a:solidFill>
                <a:latin typeface="Microsoft JhengHei"/>
              </a:rPr>
              <a:t>每顆 cycle 都看得到為什麼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760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1691639"/>
            <a:ext cx="5486400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53035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A2733"/>
                </a:solidFill>
                <a:latin typeface="Consolas"/>
              </a:rPr>
              <a:t>Sample: NO.65 | Muscovite | Mode: Auto | Fit: 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5740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A2733"/>
                </a:solidFill>
                <a:latin typeface="Microsoft JhengHei"/>
              </a:rPr>
              <a:t>Cycle 選取（robust z-score 著色）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377440"/>
            <a:ext cx="502920" cy="347472"/>
          </a:xfrm>
          <a:prstGeom prst="round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502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c1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6736" y="2377440"/>
            <a:ext cx="502920" cy="347472"/>
          </a:xfrm>
          <a:prstGeom prst="round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6736" y="2377440"/>
            <a:ext cx="502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83664" y="2377440"/>
            <a:ext cx="502920" cy="347472"/>
          </a:xfrm>
          <a:prstGeom prst="roundRect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83664" y="2377440"/>
            <a:ext cx="502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c3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50592" y="2377440"/>
            <a:ext cx="502920" cy="347472"/>
          </a:xfrm>
          <a:prstGeom prst="round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2377440"/>
            <a:ext cx="502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c4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2377440"/>
            <a:ext cx="502920" cy="347472"/>
          </a:xfrm>
          <a:prstGeom prst="round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377440"/>
            <a:ext cx="502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c5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84448" y="2377440"/>
            <a:ext cx="502920" cy="347472"/>
          </a:xfrm>
          <a:prstGeom prst="round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4448" y="2377440"/>
            <a:ext cx="502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c6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51376" y="2377440"/>
            <a:ext cx="502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51376" y="2377440"/>
            <a:ext cx="502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C0392A"/>
                </a:solidFill>
                <a:latin typeface="Consolas"/>
              </a:rPr>
              <a:t>c7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2852928"/>
            <a:ext cx="146304" cy="146304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2834639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B7A"/>
                </a:solidFill>
                <a:latin typeface="Microsoft JhengHei"/>
              </a:rPr>
              <a:t>healthy z&lt;1.8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04288" y="2852928"/>
            <a:ext cx="146304" cy="146304"/>
          </a:xfrm>
          <a:prstGeom prst="rect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05456" y="2834639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B7A"/>
                </a:solidFill>
                <a:latin typeface="Microsoft JhengHei"/>
              </a:rPr>
              <a:t>suspicious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8768" y="2852928"/>
            <a:ext cx="146304" cy="146304"/>
          </a:xfrm>
          <a:prstGeom prst="rect">
            <a:avLst/>
          </a:prstGeom>
          <a:solidFill>
            <a:srgbClr val="C0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59935" y="2834639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6B7A"/>
                </a:solidFill>
                <a:latin typeface="Microsoft JhengHei"/>
              </a:rPr>
              <a:t>outlier z≥3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20040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A2733"/>
                </a:solidFill>
                <a:latin typeface="Microsoft JhengHei"/>
              </a:rPr>
              <a:t>Signal T₀ Range（挑 blank cycle）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9848" y="4892040"/>
            <a:ext cx="4937759" cy="10972"/>
          </a:xfrm>
          <a:prstGeom prst="rect">
            <a:avLst/>
          </a:prstGeom>
          <a:solidFill>
            <a:srgbClr val="9AA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75687" y="3520439"/>
            <a:ext cx="731520" cy="1234440"/>
          </a:xfrm>
          <a:prstGeom prst="rect">
            <a:avLst/>
          </a:prstGeom>
          <a:solidFill>
            <a:srgbClr val="FDF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7007" y="3840480"/>
            <a:ext cx="502920" cy="457200"/>
          </a:xfrm>
          <a:prstGeom prst="rect">
            <a:avLst/>
          </a:prstGeom>
          <a:solidFill>
            <a:srgbClr val="E6F0F6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7" y="491947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A6B7A"/>
                </a:solidFill>
                <a:latin typeface="Microsoft JhengHei"/>
              </a:rPr>
              <a:t>Blank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12848" y="3291839"/>
            <a:ext cx="502920" cy="548640"/>
          </a:xfrm>
          <a:prstGeom prst="rect">
            <a:avLst/>
          </a:prstGeom>
          <a:solidFill>
            <a:srgbClr val="E6F0F6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21408" y="491947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A6B7A"/>
                </a:solidFill>
                <a:latin typeface="Microsoft JhengHei"/>
              </a:rPr>
              <a:t>700°C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18688" y="3474720"/>
            <a:ext cx="502920" cy="411480"/>
          </a:xfrm>
          <a:prstGeom prst="rect">
            <a:avLst/>
          </a:prstGeom>
          <a:solidFill>
            <a:srgbClr val="E6F0F6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27248" y="491947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A6B7A"/>
                </a:solidFill>
                <a:latin typeface="Microsoft JhengHei"/>
              </a:rPr>
              <a:t>900°C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24528" y="3611880"/>
            <a:ext cx="502920" cy="365760"/>
          </a:xfrm>
          <a:prstGeom prst="rect">
            <a:avLst/>
          </a:prstGeom>
          <a:solidFill>
            <a:srgbClr val="E6F0F6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33088" y="491947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A6B7A"/>
                </a:solidFill>
                <a:latin typeface="Microsoft JhengHei"/>
              </a:rPr>
              <a:t>1100°C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30368" y="3749039"/>
            <a:ext cx="502920" cy="292608"/>
          </a:xfrm>
          <a:prstGeom prst="rect">
            <a:avLst/>
          </a:prstGeom>
          <a:solidFill>
            <a:srgbClr val="E6F0F6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38928" y="491947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A6B7A"/>
                </a:solidFill>
                <a:latin typeface="Microsoft JhengHei"/>
              </a:rPr>
              <a:t>1300°C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164592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450" b="1">
                <a:solidFill>
                  <a:srgbClr val="1A2733"/>
                </a:solidFill>
                <a:latin typeface="Microsoft JhengHei"/>
              </a:rPr>
              <a:t>Serial 挑 cycle</a:t>
            </a:r>
            <a:r>
              <a:rPr sz="1450" b="0">
                <a:solidFill>
                  <a:srgbClr val="1A2733"/>
                </a:solidFill>
                <a:latin typeface="Microsoft JhengHei"/>
              </a:rPr>
              <a:t>：Ar37→Ar36→Ar38/39/40 按物理依賴順序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450" b="1">
                <a:solidFill>
                  <a:srgbClr val="1A2733"/>
                </a:solidFill>
                <a:latin typeface="Microsoft JhengHei"/>
              </a:rPr>
              <a:t>z-score 著色</a:t>
            </a:r>
            <a:r>
              <a:rPr sz="1450" b="0">
                <a:solidFill>
                  <a:srgbClr val="1A2733"/>
                </a:solidFill>
                <a:latin typeface="Microsoft JhengHei"/>
              </a:rPr>
              <a:t>：MAD-based，藍/琥珀/紅一眼看 outlier，hover 顯 t / mV / z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450" b="1">
                <a:solidFill>
                  <a:srgbClr val="1A2733"/>
                </a:solidFill>
                <a:latin typeface="Microsoft JhengHei"/>
              </a:rPr>
              <a:t>σ 雙軸可切換</a:t>
            </a:r>
            <a:r>
              <a:rPr sz="1450" b="0">
                <a:solidFill>
                  <a:srgbClr val="1A2733"/>
                </a:solidFill>
                <a:latin typeface="Microsoft JhengHei"/>
              </a:rPr>
              <a:t>：pcov[-1,-1]（Li 2019）vs std(|r|)/√n，圖上同時印兩式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450" b="1">
                <a:solidFill>
                  <a:srgbClr val="1A2733"/>
                </a:solidFill>
                <a:latin typeface="Microsoft JhengHei"/>
              </a:rPr>
              <a:t>T₀ Range 盒鬚圖</a:t>
            </a:r>
            <a:r>
              <a:rPr sz="1450" b="0">
                <a:solidFill>
                  <a:srgbClr val="1A2733"/>
                </a:solidFill>
                <a:latin typeface="Microsoft JhengHei"/>
              </a:rPr>
              <a:t>：blank box + 各 step T₀±σ，黃帶標目前 step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4572000"/>
            <a:ext cx="5029200" cy="1097280"/>
          </a:xfrm>
          <a:prstGeom prst="roundRect">
            <a:avLst/>
          </a:prstGeom>
          <a:solidFill>
            <a:srgbClr val="EEF6F2"/>
          </a:solidFill>
          <a:ln w="12700">
            <a:solidFill>
              <a:srgbClr val="CFE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4709160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733"/>
                </a:solidFill>
                <a:latin typeface="Microsoft JhengHei"/>
              </a:rPr>
              <a:t>對老師強調：</a:t>
            </a:r>
            <a:r>
              <a:rPr sz="1400" b="0">
                <a:solidFill>
                  <a:srgbClr val="1A2733"/>
                </a:solidFill>
                <a:latin typeface="Microsoft JhengHei"/>
              </a:rPr>
              <a:t>AutoPipeline 的 σ_T0 改 SE-from-covariance，但主程式 CalcT0Page 您指定的 std(|r|)/√n 我沒動。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Argon Pipeline · T₀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ARGON PIPELINE · ③ AGECALC + DATUM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Excel 風格 </a:t>
            </a:r>
            <a:r>
              <a:rPr sz="3000" b="1">
                <a:solidFill>
                  <a:srgbClr val="1D6FA5"/>
                </a:solidFill>
                <a:latin typeface="Microsoft JhengHei"/>
              </a:rPr>
              <a:t>9 分頁</a:t>
            </a:r>
            <a:r>
              <a:rPr sz="3000" b="1">
                <a:solidFill>
                  <a:srgbClr val="1A2733"/>
                </a:solidFill>
                <a:latin typeface="Microsoft JhengHei"/>
              </a:rPr>
              <a:t>：左圖 + 右資訊面板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1691639"/>
            <a:ext cx="5760720" cy="32918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1907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A2733"/>
                </a:solidFill>
                <a:latin typeface="Consolas"/>
              </a:rPr>
              <a:t>J = 0.0008912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728216"/>
            <a:ext cx="960120" cy="256032"/>
          </a:xfrm>
          <a:prstGeom prst="roundRect">
            <a:avLst/>
          </a:prstGeom>
          <a:solidFill>
            <a:srgbClr val="13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728216"/>
            <a:ext cx="960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Recalculate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719072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C2410C"/>
                </a:solidFill>
                <a:latin typeface="Microsoft JhengHei"/>
              </a:rPr>
              <a:t>MSWD 1.07 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7007" y="2286000"/>
            <a:ext cx="10972" cy="2377439"/>
          </a:xfrm>
          <a:prstGeom prst="rect">
            <a:avLst/>
          </a:prstGeom>
          <a:solidFill>
            <a:srgbClr val="9AA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7007" y="4663440"/>
            <a:ext cx="5029200" cy="10972"/>
          </a:xfrm>
          <a:prstGeom prst="rect">
            <a:avLst/>
          </a:prstGeom>
          <a:solidFill>
            <a:srgbClr val="9AA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47087" y="2926080"/>
            <a:ext cx="3291840" cy="457200"/>
          </a:xfrm>
          <a:prstGeom prst="rect">
            <a:avLst/>
          </a:prstGeom>
          <a:solidFill>
            <a:srgbClr val="CF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47087" y="25603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8A72"/>
                </a:solidFill>
                <a:latin typeface="Microsoft JhengHei"/>
              </a:rPr>
              <a:t>Plateau 9.77 ± 0.28 Ma (2σ)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8448" y="3657600"/>
            <a:ext cx="521207" cy="164592"/>
          </a:xfrm>
          <a:prstGeom prst="rect">
            <a:avLst/>
          </a:prstGeom>
          <a:solidFill>
            <a:srgbClr val="DCEAF3"/>
          </a:solidFill>
          <a:ln w="1905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19655" y="3154680"/>
            <a:ext cx="868680" cy="164592"/>
          </a:xfrm>
          <a:prstGeom prst="rect">
            <a:avLst/>
          </a:prstGeom>
          <a:solidFill>
            <a:srgbClr val="DCEAF3"/>
          </a:solidFill>
          <a:ln w="1905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88336" y="3017520"/>
            <a:ext cx="1129284" cy="164592"/>
          </a:xfrm>
          <a:prstGeom prst="rect">
            <a:avLst/>
          </a:prstGeom>
          <a:solidFill>
            <a:srgbClr val="DCEAF3"/>
          </a:solidFill>
          <a:ln w="1905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17620" y="3063239"/>
            <a:ext cx="955547" cy="164592"/>
          </a:xfrm>
          <a:prstGeom prst="rect">
            <a:avLst/>
          </a:prstGeom>
          <a:solidFill>
            <a:srgbClr val="DCEAF3"/>
          </a:solidFill>
          <a:ln w="1905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73168" y="3474720"/>
            <a:ext cx="738378" cy="164592"/>
          </a:xfrm>
          <a:prstGeom prst="rect">
            <a:avLst/>
          </a:prstGeom>
          <a:solidFill>
            <a:srgbClr val="DCEAF3"/>
          </a:solidFill>
          <a:ln w="1905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09159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5A6B7A"/>
                </a:solidFill>
                <a:latin typeface="Microsoft JhengHei"/>
              </a:rPr>
              <a:t>Cumulative ³⁹Ar(K)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5120640"/>
            <a:ext cx="612647" cy="2743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120640"/>
            <a:ext cx="61264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Summary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44168" y="5120640"/>
            <a:ext cx="612647" cy="2743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44168" y="5120640"/>
            <a:ext cx="61264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B7A"/>
                </a:solidFill>
                <a:latin typeface="Microsoft JhengHei"/>
              </a:rPr>
              <a:t>Datum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5120640"/>
            <a:ext cx="612647" cy="2743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84248" y="5120640"/>
            <a:ext cx="61264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B7A"/>
                </a:solidFill>
                <a:latin typeface="Microsoft JhengHei"/>
              </a:rPr>
              <a:t>Age Spectrum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24327" y="5120640"/>
            <a:ext cx="612647" cy="2743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4327" y="5120640"/>
            <a:ext cx="61264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B7A"/>
                </a:solidFill>
                <a:latin typeface="Microsoft JhengHei"/>
              </a:rPr>
              <a:t>⁴⁰Ar(r)%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4408" y="5120640"/>
            <a:ext cx="612647" cy="2743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4408" y="5120640"/>
            <a:ext cx="61264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B7A"/>
                </a:solidFill>
                <a:latin typeface="Microsoft JhengHei"/>
              </a:rPr>
              <a:t>Inverse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04487" y="5120640"/>
            <a:ext cx="612647" cy="2743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04487" y="5120640"/>
            <a:ext cx="61264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B7A"/>
                </a:solidFill>
                <a:latin typeface="Microsoft JhengHei"/>
              </a:rPr>
              <a:t>Normal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4567" y="5120640"/>
            <a:ext cx="612647" cy="2743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7" y="5120640"/>
            <a:ext cx="61264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B7A"/>
                </a:solidFill>
                <a:latin typeface="Microsoft JhengHei"/>
              </a:rPr>
              <a:t>Ca/K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4648" y="5120640"/>
            <a:ext cx="612647" cy="2743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84648" y="5120640"/>
            <a:ext cx="61264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B7A"/>
                </a:solidFill>
                <a:latin typeface="Microsoft JhengHei"/>
              </a:rPr>
              <a:t>Cl/K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24727" y="5120640"/>
            <a:ext cx="612647" cy="2743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4727" y="5120640"/>
            <a:ext cx="61264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B7A"/>
                </a:solidFill>
                <a:latin typeface="Microsoft JhengHei"/>
              </a:rPr>
              <a:t>Degassing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169164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450" b="1">
                <a:solidFill>
                  <a:srgbClr val="1A2733"/>
                </a:solidFill>
                <a:latin typeface="Microsoft JhengHei"/>
              </a:rPr>
              <a:t>9 分頁</a:t>
            </a:r>
            <a:r>
              <a:rPr sz="1450" b="0">
                <a:solidFill>
                  <a:srgbClr val="1A2733"/>
                </a:solidFill>
                <a:latin typeface="Microsoft JhengHei"/>
              </a:rPr>
              <a:t>：Summary · Datum · Age Spectrum · ⁴⁰Ar(r)% · Inverse · Normal · Ca/K · Cl/K · Degassing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450" b="1">
                <a:solidFill>
                  <a:srgbClr val="1A2733"/>
                </a:solidFill>
                <a:latin typeface="Microsoft JhengHei"/>
              </a:rPr>
              <a:t>York 2004 isochron</a:t>
            </a:r>
            <a:r>
              <a:rPr sz="1450" b="0">
                <a:solidFill>
                  <a:srgbClr val="1A2733"/>
                </a:solidFill>
                <a:latin typeface="Microsoft JhengHei"/>
              </a:rPr>
              <a:t> + Wendt-Carl 1991 √MSWD 外部誤差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450" b="1">
                <a:solidFill>
                  <a:srgbClr val="1A2733"/>
                </a:solidFill>
                <a:latin typeface="Microsoft JhengHei"/>
              </a:rPr>
              <a:t>plateau 可手動勾</a:t>
            </a:r>
            <a:r>
              <a:rPr sz="1450" b="0">
                <a:solidFill>
                  <a:srgbClr val="1A2733"/>
                </a:solidFill>
                <a:latin typeface="Microsoft JhengHei"/>
              </a:rPr>
              <a:t> 或 Auto-plateau；改完即時更新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450" b="1">
                <a:solidFill>
                  <a:srgbClr val="1A2733"/>
                </a:solidFill>
                <a:latin typeface="Microsoft JhengHei"/>
              </a:rPr>
              <a:t>可編輯 J + Recalculate</a:t>
            </a:r>
            <a:r>
              <a:rPr sz="1450" b="0">
                <a:solidFill>
                  <a:srgbClr val="1A2733"/>
                </a:solidFill>
                <a:latin typeface="Microsoft JhengHei"/>
              </a:rPr>
              <a:t>：走完整 pipeline 重算，表/banner/圖/datum 一致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450" b="1">
                <a:solidFill>
                  <a:srgbClr val="1A2733"/>
                </a:solidFill>
                <a:latin typeface="Microsoft JhengHei"/>
              </a:rPr>
              <a:t>Plot Controls</a:t>
            </a:r>
            <a:r>
              <a:rPr sz="1450" b="0">
                <a:solidFill>
                  <a:srgbClr val="1A2733"/>
                </a:solidFill>
                <a:latin typeface="Microsoft JhengHei"/>
              </a:rPr>
              <a:t>：軸範圍、Style、Log Y、Group Span 全可調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Argon Pipeline · AgeCalc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ARGON PIPELINE · 判讀輔助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不用心算就知道</a:t>
            </a:r>
            <a:r>
              <a:rPr sz="3000" b="1">
                <a:solidFill>
                  <a:srgbClr val="1D6FA5"/>
                </a:solidFill>
                <a:latin typeface="Microsoft JhengHei"/>
              </a:rPr>
              <a:t>數據健不健康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40680" cy="1828800"/>
          </a:xfrm>
          <a:prstGeom prst="roundRect">
            <a:avLst/>
          </a:prstGeom>
          <a:solidFill>
            <a:srgbClr val="F5F6F4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6FA5"/>
                </a:solidFill>
                <a:latin typeface="Microsoft JhengHei"/>
              </a:rPr>
              <a:t>σ uncertainty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6B7A"/>
                </a:solidFill>
                <a:latin typeface="Microsoft JhengHei"/>
              </a:rPr>
              <a:t>total fusion σ² 拆三來源，一眼分 J-limited / signal-limited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697480"/>
            <a:ext cx="685800" cy="36576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J 15%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2697480"/>
            <a:ext cx="3337560" cy="365760"/>
          </a:xfrm>
          <a:prstGeom prst="rect">
            <a:avLst/>
          </a:prstGeom>
          <a:solidFill>
            <a:srgbClr val="13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697480"/>
            <a:ext cx="3337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⁴⁰Ar* 73%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697480"/>
            <a:ext cx="548640" cy="365760"/>
          </a:xfrm>
          <a:prstGeom prst="rect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69748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Microsoft JhengHei"/>
              </a:rPr>
              <a:t>³⁹K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554480"/>
            <a:ext cx="5440680" cy="1828800"/>
          </a:xfrm>
          <a:prstGeom prst="roundRect">
            <a:avLst/>
          </a:prstGeom>
          <a:solidFill>
            <a:srgbClr val="EEF6F2"/>
          </a:solidFill>
          <a:ln w="12700">
            <a:solidFill>
              <a:srgbClr val="CFE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8A72"/>
                </a:solidFill>
                <a:latin typeface="Microsoft JhengHei"/>
              </a:rPr>
              <a:t>³⁶Ar blank → Inverse Isochron 敏感度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300" b="0">
                <a:solidFill>
                  <a:srgbClr val="1A2733"/>
                </a:solidFill>
                <a:latin typeface="Microsoft JhengHei"/>
              </a:rPr>
              <a:t>滑桿拉 ³⁶ blank ×k，看點垂直滑動、trapped 與 age 怎麼動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300" b="0">
                <a:solidFill>
                  <a:srgbClr val="1A2733"/>
                </a:solidFill>
                <a:latin typeface="Microsoft JhengHei"/>
              </a:rPr>
              <a:t>即時讀數 trapped = 1/intercept、age (F=−slope/intercept)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300" b="1">
                <a:solidFill>
                  <a:srgbClr val="1A2733"/>
                </a:solidFill>
                <a:latin typeface="Microsoft JhengHei"/>
              </a:rPr>
              <a:t>純 what-if 預覽，不改任何科學輸出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611880"/>
            <a:ext cx="5440680" cy="1371600"/>
          </a:xfrm>
          <a:prstGeom prst="roundRect">
            <a:avLst/>
          </a:prstGeom>
          <a:solidFill>
            <a:srgbClr val="F5F6F4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4903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6FA5"/>
                </a:solidFill>
                <a:latin typeface="Microsoft JhengHei"/>
              </a:rPr>
              <a:t>MSWD 顏色提示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6B7A"/>
                </a:solidFill>
                <a:latin typeface="Microsoft JhengHei"/>
              </a:rPr>
              <a:t>MSWD&gt;1 → banner 標「ext」，σ_age ×√MSWD（對齊 IsoplotR model-1）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11880"/>
            <a:ext cx="5440680" cy="1371600"/>
          </a:xfrm>
          <a:prstGeom prst="roundRect">
            <a:avLst/>
          </a:prstGeom>
          <a:solidFill>
            <a:srgbClr val="F5F6F4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4903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6FA5"/>
                </a:solidFill>
                <a:latin typeface="Microsoft JhengHei"/>
              </a:rPr>
              <a:t>⁴⁰Ar(r)% &gt; 100% 警示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6B7A"/>
                </a:solidFill>
                <a:latin typeface="Microsoft JhengHei"/>
              </a:rPr>
              <a:t>net ³⁶Ar(atm)&lt;0 自動標紅，提示 ³⁶ blank 扣過頭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Argon Pipeline · 判讀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怎麼讓老師</a:t>
            </a:r>
            <a:r>
              <a:rPr sz="3000" b="1">
                <a:solidFill>
                  <a:srgbClr val="1D6FA5"/>
                </a:solidFill>
                <a:latin typeface="Microsoft JhengHei"/>
              </a:rPr>
              <a:t>相信數字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3520440" cy="3931920"/>
          </a:xfrm>
          <a:prstGeom prst="roundRect">
            <a:avLst/>
          </a:prstGeom>
          <a:solidFill>
            <a:srgbClr val="F5F6F4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A6B7A"/>
                </a:solidFill>
                <a:latin typeface="Microsoft JhengHei"/>
              </a:rPr>
              <a:t>標準樣品（K-rich 雲母）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1D6FA5"/>
                </a:solidFill>
                <a:latin typeface="Microsoft JhengHei"/>
              </a:rPr>
              <a:t>NO.65 muscovite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3464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A2733"/>
                </a:solidFill>
                <a:latin typeface="Microsoft JhengHei"/>
              </a:rPr>
              <a:t>irradiation 0621-01C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6616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>
                <a:solidFill>
                  <a:srgbClr val="1D6FA5"/>
                </a:solidFill>
                <a:latin typeface="Microsoft JhengHei"/>
              </a:rPr>
              <a:t>9.77 ± 0.28 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4805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A6B7A"/>
                </a:solidFill>
                <a:latin typeface="Microsoft JhengHei"/>
              </a:rPr>
              <a:t>plateau WMA 目標值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645920"/>
            <a:ext cx="3520440" cy="3931920"/>
          </a:xfrm>
          <a:prstGeom prst="roundRect">
            <a:avLst/>
          </a:prstGeom>
          <a:solidFill>
            <a:srgbClr val="EEF6F2"/>
          </a:solidFill>
          <a:ln w="12700">
            <a:solidFill>
              <a:srgbClr val="CFE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192024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A6B7A"/>
                </a:solidFill>
                <a:latin typeface="Microsoft JhengHei"/>
              </a:rPr>
              <a:t>論文對照（玄武岩）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228600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138A72"/>
                </a:solidFill>
                <a:latin typeface="Microsoft JhengHei"/>
              </a:rPr>
              <a:t>SYL31 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83464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A2733"/>
                </a:solidFill>
                <a:latin typeface="Microsoft JhengHei"/>
              </a:rPr>
              <a:t>Sylhet Trap 玄武岩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356616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>
                <a:solidFill>
                  <a:srgbClr val="138A72"/>
                </a:solidFill>
                <a:latin typeface="Microsoft JhengHei"/>
              </a:rPr>
              <a:t>115.4 ± 3.9 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44805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A6B7A"/>
                </a:solidFill>
                <a:latin typeface="Microsoft JhengHei"/>
              </a:rPr>
              <a:t>修正後 Date / WMA ≈ 115 Ma 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645920"/>
            <a:ext cx="3520440" cy="3931920"/>
          </a:xfrm>
          <a:prstGeom prst="roundRect">
            <a:avLst/>
          </a:prstGeom>
          <a:solidFill>
            <a:srgbClr val="F5F6F4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3" y="192024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A6B7A"/>
                </a:solidFill>
                <a:latin typeface="Microsoft JhengHei"/>
              </a:rPr>
              <a:t>第三方交叉比對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228600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1D6FA5"/>
                </a:solidFill>
                <a:latin typeface="Microsoft JhengHei"/>
              </a:rPr>
              <a:t>IsoplotR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283464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A2733"/>
                </a:solidFill>
                <a:latin typeface="Microsoft JhengHei"/>
              </a:rPr>
              <a:t>同一份 0621-01C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356616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>
                <a:solidFill>
                  <a:srgbClr val="1D6FA5"/>
                </a:solidFill>
                <a:latin typeface="Microsoft JhengHei"/>
              </a:rPr>
              <a:t>MSWD · p(χ²)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44805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A6B7A"/>
                </a:solidFill>
                <a:latin typeface="Microsoft JhengHei"/>
              </a:rPr>
              <a:t>York / inverse isochron 一致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驗證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D6FA5"/>
                </a:solidFill>
                <a:latin typeface="Microsoft JhengHei"/>
              </a:rPr>
              <a:t>小結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A2733"/>
                </a:solidFill>
                <a:latin typeface="Microsoft JhengHei"/>
              </a:rPr>
              <a:t>把 pyADR 從「能跑」做到</a:t>
            </a:r>
            <a:r>
              <a:rPr sz="3000" b="1">
                <a:solidFill>
                  <a:srgbClr val="1D6FA5"/>
                </a:solidFill>
                <a:latin typeface="Microsoft JhengHei"/>
              </a:rPr>
              <a:t>「能信、好用」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98448"/>
            <a:ext cx="640080" cy="45720"/>
          </a:xfrm>
          <a:prstGeom prst="rect">
            <a:avLst/>
          </a:prstGeom>
          <a:solidFill>
            <a:srgbClr val="1D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64008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600" b="1">
                <a:solidFill>
                  <a:srgbClr val="1A2733"/>
                </a:solidFill>
                <a:latin typeface="Microsoft JhengHei"/>
              </a:rPr>
              <a:t>DiagramPlot</a:t>
            </a:r>
            <a:r>
              <a:rPr sz="1600" b="0">
                <a:solidFill>
                  <a:srgbClr val="1A2733"/>
                </a:solidFill>
                <a:latin typeface="Microsoft JhengHei"/>
              </a:rPr>
              <a:t>：5 類 isochron 公式對齊文獻 + 互動選點 / 切方法 / 內建公式查詢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600" b="1">
                <a:solidFill>
                  <a:srgbClr val="1A2733"/>
                </a:solidFill>
                <a:latin typeface="Microsoft JhengHei"/>
              </a:rPr>
              <a:t>Argon Pipeline</a:t>
            </a:r>
            <a:r>
              <a:rPr sz="1600" b="0">
                <a:solidFill>
                  <a:srgbClr val="1A2733"/>
                </a:solidFill>
                <a:latin typeface="Microsoft JhengHei"/>
              </a:rPr>
              <a:t>：.dat→年代三頁自動化，每步可檢視、可調 J 重算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D6FA5"/>
                </a:solidFill>
                <a:latin typeface="Microsoft JhengHei"/>
              </a:rPr>
              <a:t>■ </a:t>
            </a:r>
            <a:r>
              <a:rPr sz="1600" b="1">
                <a:solidFill>
                  <a:srgbClr val="1A2733"/>
                </a:solidFill>
                <a:latin typeface="Microsoft JhengHei"/>
              </a:rPr>
              <a:t>判讀輔助</a:t>
            </a:r>
            <a:r>
              <a:rPr sz="1600" b="0">
                <a:solidFill>
                  <a:srgbClr val="1A2733"/>
                </a:solidFill>
                <a:latin typeface="Microsoft JhengHei"/>
              </a:rPr>
              <a:t>：z-score、σ budget、MSWD 顏色、敏感度 what-if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600" b="1">
                <a:solidFill>
                  <a:srgbClr val="1A2733"/>
                </a:solidFill>
                <a:latin typeface="Microsoft JhengHei"/>
              </a:rPr>
              <a:t>驗證</a:t>
            </a:r>
            <a:r>
              <a:rPr sz="1600" b="0">
                <a:solidFill>
                  <a:srgbClr val="1A2733"/>
                </a:solidFill>
                <a:latin typeface="Microsoft JhengHei"/>
              </a:rPr>
              <a:t>：NO.65 9.77 Ma、SYL31 115 Ma、IsoplotR 交叉比對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00200"/>
            <a:ext cx="4416552" cy="3017520"/>
          </a:xfrm>
          <a:prstGeom prst="roundRect">
            <a:avLst/>
          </a:prstGeom>
          <a:solidFill>
            <a:srgbClr val="EEF6F2"/>
          </a:solidFill>
          <a:ln w="12700">
            <a:solidFill>
              <a:srgbClr val="CFE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38A72"/>
                </a:solidFill>
                <a:latin typeface="Microsoft JhengHei"/>
              </a:rPr>
              <a:t>下一步（已知 backlog）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377440"/>
            <a:ext cx="3886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400" b="0">
                <a:solidFill>
                  <a:srgbClr val="1A2733"/>
                </a:solidFill>
                <a:latin typeface="Microsoft JhengHei"/>
              </a:rPr>
              <a:t>LAMBDA_K 正式定義為 Renne 2010 (5.531e-10)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400" b="0">
                <a:solidFill>
                  <a:srgbClr val="1A2733"/>
                </a:solidFill>
                <a:latin typeface="Microsoft JhengHei"/>
              </a:rPr>
              <a:t>plateau 的 σ budget + w/o-J 分析誤差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00">
                <a:solidFill>
                  <a:srgbClr val="138A72"/>
                </a:solidFill>
                <a:latin typeface="Microsoft JhengHei"/>
              </a:rPr>
              <a:t>■ </a:t>
            </a:r>
            <a:r>
              <a:rPr sz="1400" b="0">
                <a:solidFill>
                  <a:srgbClr val="1A2733"/>
                </a:solidFill>
                <a:latin typeface="Microsoft JhengHei"/>
              </a:rPr>
              <a:t>Errorchron Model 3 / anchored isochron（少 step 備援）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37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A2733"/>
                </a:solidFill>
                <a:latin typeface="Microsoft JhengHei"/>
              </a:rPr>
              <a:t>謝謝老師，歡迎指教 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An-Jun (Andrew) Liu · pyADR v3.8.88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A6B7A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